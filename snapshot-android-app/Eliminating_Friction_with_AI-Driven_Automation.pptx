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jpe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image" Target="../media/image-1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28625" y="428625"/>
            <a:ext cx="8286750" cy="914400"/>
          </a:xfrm>
          <a:prstGeom prst="rect">
            <a:avLst/>
          </a:prstGeom>
          <a:noFill/>
          <a:ln/>
        </p:spPr>
        <p:txBody>
          <a:bodyPr wrap="square" lIns="170053" tIns="0" rIns="0" bIns="0" rtlCol="0" anchor="t">
            <a:spAutoFit/>
          </a:bodyPr>
          <a:lstStyle/>
          <a:p>
            <a:pPr algn="l" indent="0" marL="0">
              <a:lnSpc>
                <a:spcPts val="3600"/>
              </a:lnSpc>
              <a:buNone/>
            </a:pPr>
            <a:r>
              <a:rPr lang="en-US" sz="3294" b="1" dirty="0">
                <a:solidFill>
                  <a:srgbClr val="1A1A1A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ELIMINATING FRICTION WITH</a:t>
            </a:r>
            <a:pPr algn="l" indent="0" marL="0">
              <a:lnSpc>
                <a:spcPts val="3600"/>
              </a:lnSpc>
              <a:buNone/>
            </a:pPr>
            <a:r>
              <a:rPr lang="en-US" sz="3294" b="1" dirty="0">
                <a:solidFill>
                  <a:srgbClr val="1A1A1A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
</a:t>
            </a:r>
            <a:pPr algn="l" indent="0" marL="0">
              <a:lnSpc>
                <a:spcPts val="3600"/>
              </a:lnSpc>
              <a:buNone/>
            </a:pPr>
            <a:r>
              <a:rPr lang="en-US" sz="3294" b="1" dirty="0">
                <a:solidFill>
                  <a:srgbClr val="1A1A1A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AI-DRIVEN AUTOMATION</a:t>
            </a:r>
            <a:endParaRPr lang="en-US" sz="3294" dirty="0"/>
          </a:p>
        </p:txBody>
      </p:sp>
      <p:pic>
        <p:nvPicPr>
          <p:cNvPr id="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8625" y="1801118"/>
            <a:ext cx="171450" cy="171450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707231" y="1771650"/>
            <a:ext cx="1700213" cy="23038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900"/>
              </a:lnSpc>
              <a:buNone/>
            </a:pPr>
            <a:r>
              <a:rPr lang="en-US" sz="1397" b="1" dirty="0">
                <a:solidFill>
                  <a:srgbClr val="1A1A1A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THE CHALLENGE</a:t>
            </a:r>
            <a:endParaRPr lang="en-US" sz="1397" dirty="0"/>
          </a:p>
        </p:txBody>
      </p:sp>
      <p:sp>
        <p:nvSpPr>
          <p:cNvPr id="6" name="Text 2"/>
          <p:cNvSpPr/>
          <p:nvPr/>
        </p:nvSpPr>
        <p:spPr>
          <a:xfrm>
            <a:off x="428625" y="2180630"/>
            <a:ext cx="2466966" cy="100581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2000"/>
              </a:lnSpc>
              <a:buNone/>
            </a:pPr>
            <a:r>
              <a:rPr lang="en-US" sz="1159" dirty="0">
                <a:solidFill>
                  <a:srgbClr val="4A4A4A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Manual screenshot processes required 200+ captures per engineer across multiple categories—tedious, slow, and deeply frustrating.</a:t>
            </a:r>
            <a:endParaRPr lang="en-US" sz="1159" dirty="0"/>
          </a:p>
        </p:txBody>
      </p:sp>
      <p:pic>
        <p:nvPicPr>
          <p:cNvPr id="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38503" y="1801118"/>
            <a:ext cx="214313" cy="171450"/>
          </a:xfrm>
          <a:prstGeom prst="rect">
            <a:avLst/>
          </a:prstGeom>
        </p:spPr>
      </p:pic>
      <p:sp>
        <p:nvSpPr>
          <p:cNvPr id="8" name="Text 3"/>
          <p:cNvSpPr/>
          <p:nvPr/>
        </p:nvSpPr>
        <p:spPr>
          <a:xfrm>
            <a:off x="3659972" y="1771650"/>
            <a:ext cx="1289028" cy="23038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900"/>
              </a:lnSpc>
              <a:buNone/>
            </a:pPr>
            <a:r>
              <a:rPr lang="en-US" sz="1397" b="1" dirty="0">
                <a:solidFill>
                  <a:srgbClr val="1A1A1A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AI SOLUTION</a:t>
            </a:r>
            <a:endParaRPr lang="en-US" sz="1397" dirty="0"/>
          </a:p>
        </p:txBody>
      </p:sp>
      <p:sp>
        <p:nvSpPr>
          <p:cNvPr id="9" name="Text 4"/>
          <p:cNvSpPr/>
          <p:nvPr/>
        </p:nvSpPr>
        <p:spPr>
          <a:xfrm>
            <a:off x="3338503" y="2180630"/>
            <a:ext cx="2466966" cy="100581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2000"/>
              </a:lnSpc>
              <a:buNone/>
            </a:pPr>
            <a:r>
              <a:rPr lang="en-US" sz="1159" dirty="0">
                <a:solidFill>
                  <a:srgbClr val="4A4A4A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A custom app featuring category selection, one-tap capture, and auto-packaging—eliminating hassle through intelligent automation.</a:t>
            </a:r>
            <a:endParaRPr lang="en-US" sz="1159" dirty="0"/>
          </a:p>
        </p:txBody>
      </p:sp>
      <p:pic>
        <p:nvPicPr>
          <p:cNvPr id="10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48381" y="1801118"/>
            <a:ext cx="171450" cy="171450"/>
          </a:xfrm>
          <a:prstGeom prst="rect">
            <a:avLst/>
          </a:prstGeom>
        </p:spPr>
      </p:pic>
      <p:sp>
        <p:nvSpPr>
          <p:cNvPr id="11" name="Text 5"/>
          <p:cNvSpPr/>
          <p:nvPr/>
        </p:nvSpPr>
        <p:spPr>
          <a:xfrm>
            <a:off x="6526988" y="1771650"/>
            <a:ext cx="751852" cy="23038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900"/>
              </a:lnSpc>
              <a:buNone/>
            </a:pPr>
            <a:r>
              <a:rPr lang="en-US" sz="1397" b="1" dirty="0">
                <a:solidFill>
                  <a:srgbClr val="1A1A1A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IMPACT</a:t>
            </a:r>
            <a:endParaRPr lang="en-US" sz="1397" dirty="0"/>
          </a:p>
        </p:txBody>
      </p:sp>
      <p:sp>
        <p:nvSpPr>
          <p:cNvPr id="12" name="Text 6"/>
          <p:cNvSpPr/>
          <p:nvPr/>
        </p:nvSpPr>
        <p:spPr>
          <a:xfrm>
            <a:off x="6248381" y="2180630"/>
            <a:ext cx="2466966" cy="100581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2000"/>
              </a:lnSpc>
              <a:buNone/>
            </a:pPr>
            <a:r>
              <a:rPr lang="en-US" sz="1159" dirty="0">
                <a:solidFill>
                  <a:srgbClr val="4A4A4A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Submission rates soared as engineers reclaimed their time from administrative friction, redirecting focus back to high-value innovation.</a:t>
            </a:r>
            <a:endParaRPr lang="en-US" sz="1159" dirty="0"/>
          </a:p>
        </p:txBody>
      </p:sp>
      <p:sp>
        <p:nvSpPr>
          <p:cNvPr id="13" name="Text 7"/>
          <p:cNvSpPr/>
          <p:nvPr/>
        </p:nvSpPr>
        <p:spPr>
          <a:xfrm>
            <a:off x="6176944" y="3115010"/>
            <a:ext cx="202871" cy="65722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5400"/>
              </a:lnSpc>
              <a:buNone/>
            </a:pPr>
            <a:r>
              <a:rPr lang="en-US" sz="4410" dirty="0">
                <a:solidFill>
                  <a:srgbClr val="FF5722">
                    <a:alpha val="20000"/>
                  </a:srgbClr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"</a:t>
            </a:r>
            <a:endParaRPr lang="en-US" sz="4410" dirty="0"/>
          </a:p>
        </p:txBody>
      </p:sp>
      <p:sp>
        <p:nvSpPr>
          <p:cNvPr id="14" name="Text 8"/>
          <p:cNvSpPr/>
          <p:nvPr/>
        </p:nvSpPr>
        <p:spPr>
          <a:xfrm>
            <a:off x="6248381" y="3400760"/>
            <a:ext cx="2466966" cy="26253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2200"/>
              </a:lnSpc>
              <a:buNone/>
            </a:pPr>
            <a:r>
              <a:rPr lang="en-US" sz="1602" b="1" dirty="0">
                <a:solidFill>
                  <a:srgbClr val="1A1A1A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Innovation Reclaimed</a:t>
            </a:r>
            <a:endParaRPr lang="en-US" sz="1602" dirty="0"/>
          </a:p>
        </p:txBody>
      </p:sp>
      <p:sp>
        <p:nvSpPr>
          <p:cNvPr id="15" name="Shape 9"/>
          <p:cNvSpPr/>
          <p:nvPr/>
        </p:nvSpPr>
        <p:spPr>
          <a:xfrm>
            <a:off x="0" y="4331987"/>
            <a:ext cx="9144000" cy="811513"/>
          </a:xfrm>
          <a:prstGeom prst="rect">
            <a:avLst/>
          </a:prstGeom>
          <a:solidFill>
            <a:srgbClr val="1A1A1A"/>
          </a:solidFill>
          <a:ln/>
        </p:spPr>
      </p:sp>
      <p:sp>
        <p:nvSpPr>
          <p:cNvPr id="16" name="Text 10"/>
          <p:cNvSpPr/>
          <p:nvPr/>
        </p:nvSpPr>
        <p:spPr>
          <a:xfrm>
            <a:off x="428625" y="4655576"/>
            <a:ext cx="1217033" cy="16430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987" b="1" dirty="0">
                <a:solidFill>
                  <a:srgbClr val="FF5722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WHY IT MATTERS</a:t>
            </a:r>
            <a:endParaRPr lang="en-US" sz="987" dirty="0"/>
          </a:p>
        </p:txBody>
      </p:sp>
      <p:sp>
        <p:nvSpPr>
          <p:cNvPr id="17" name="Text 11"/>
          <p:cNvSpPr/>
          <p:nvPr/>
        </p:nvSpPr>
        <p:spPr>
          <a:xfrm>
            <a:off x="1859970" y="4617737"/>
            <a:ext cx="6405349" cy="24001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900"/>
              </a:lnSpc>
              <a:buNone/>
            </a:pPr>
            <a:r>
              <a:rPr lang="en-US" sz="1269" dirty="0">
                <a:solidFill>
                  <a:srgbClr val="FFFFFF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AI and rapid coding swiftly eliminate legacy inefficiencies, turning friction into productivity!</a:t>
            </a:r>
            <a:endParaRPr lang="en-US" sz="1269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2026-03-23T12:35:01Z</dcterms:created>
  <dcterms:modified xsi:type="dcterms:W3CDTF">2026-03-23T12:35:01Z</dcterms:modified>
</cp:coreProperties>
</file>